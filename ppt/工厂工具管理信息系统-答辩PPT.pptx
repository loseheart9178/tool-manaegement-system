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rehous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02920"/>
            <a:ext cx="5166360" cy="4069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0" y="502920"/>
            <a:ext cx="5166360" cy="4069080"/>
          </a:xfrm>
          <a:prstGeom prst="rect">
            <a:avLst/>
          </a:prstGeom>
          <a:noFill/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66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6FB2"/>
                </a:solidFill>
                <a:latin typeface="Noto Sans CJK SC"/>
              </a:rPr>
              <a:t>《程序设计课程实践》综合项目答辩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5303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>
                <a:solidFill>
                  <a:srgbClr val="16324F"/>
                </a:solidFill>
                <a:latin typeface="Noto Sans CJK SC"/>
              </a:rPr>
              <a:t>工厂工具管理</a:t>
            </a:r>
            <a:br/>
            <a:r>
              <a:rPr sz="4000" b="1">
                <a:solidFill>
                  <a:srgbClr val="16324F"/>
                </a:solidFill>
                <a:latin typeface="Noto Sans CJK SC"/>
              </a:rPr>
              <a:t>信息系统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774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B7280"/>
                </a:solidFill>
                <a:latin typeface="Noto Sans CJK SC"/>
              </a:rPr>
              <a:t>基于 C 语言的工具信息管理、借还登记、库存统计与数据持久化设计实现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090672"/>
            <a:ext cx="960120" cy="329184"/>
          </a:xfrm>
          <a:prstGeom prst="roundRect">
            <a:avLst/>
          </a:prstGeom>
          <a:solidFill>
            <a:srgbClr val="F4F7FB"/>
          </a:solidFill>
          <a:ln w="635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6324F"/>
                </a:solidFill>
                <a:latin typeface="Noto Sans CJK SC"/>
              </a:rPr>
              <a:t>结构体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090672"/>
            <a:ext cx="960120" cy="329184"/>
          </a:xfrm>
          <a:prstGeom prst="roundRect">
            <a:avLst/>
          </a:prstGeom>
          <a:solidFill>
            <a:srgbClr val="F4F7FB"/>
          </a:solidFill>
          <a:ln w="635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16382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6324F"/>
                </a:solidFill>
                <a:latin typeface="Noto Sans CJK SC"/>
              </a:rPr>
              <a:t>数组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3090672"/>
            <a:ext cx="1234440" cy="329184"/>
          </a:xfrm>
          <a:prstGeom prst="roundRect">
            <a:avLst/>
          </a:prstGeom>
          <a:solidFill>
            <a:srgbClr val="F4F7FB"/>
          </a:solidFill>
          <a:ln w="635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3163824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6324F"/>
                </a:solidFill>
                <a:latin typeface="Noto Sans CJK SC"/>
              </a:rPr>
              <a:t>文件 I/O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5656" y="3090672"/>
            <a:ext cx="1234440" cy="329184"/>
          </a:xfrm>
          <a:prstGeom prst="roundRect">
            <a:avLst/>
          </a:prstGeom>
          <a:solidFill>
            <a:srgbClr val="F4F7FB"/>
          </a:solidFill>
          <a:ln w="635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3163824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6324F"/>
                </a:solidFill>
                <a:latin typeface="Noto Sans CJK SC"/>
              </a:rPr>
              <a:t>模块化设计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9824" y="3090672"/>
            <a:ext cx="1234440" cy="329184"/>
          </a:xfrm>
          <a:prstGeom prst="roundRect">
            <a:avLst/>
          </a:prstGeom>
          <a:solidFill>
            <a:srgbClr val="F4F7FB"/>
          </a:solidFill>
          <a:ln w="635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3163824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6324F"/>
                </a:solidFill>
                <a:latin typeface="Noto Sans CJK SC"/>
              </a:rPr>
              <a:t>数据一致性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977639"/>
            <a:ext cx="5349240" cy="15544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1"/>
            <a:ext cx="494690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团队信息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977639"/>
            <a:ext cx="73152" cy="155448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Noto Sans CJK SC"/>
              </a:rPr>
              <a:t>组长：25051408 卢世豪     成员：25051415 丁伟哲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280"/>
                </a:solidFill>
                <a:latin typeface="Noto Sans CJK SC"/>
              </a:rPr>
              <a:t>完成时间：2026 年 6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983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Project 01  /  C Programming Course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3218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Noto Sans CJK SC"/>
              </a:rPr>
              <a:t>Tool Management · Borrow/Return · Inventory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答辩结构与评分对齐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6FB2"/>
                </a:solidFill>
                <a:latin typeface="Noto Sans CJK SC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371600"/>
            <a:ext cx="502920" cy="1645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2161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24F"/>
                </a:solidFill>
                <a:latin typeface="Noto Sans CJK SC"/>
              </a:rPr>
              <a:t>背景与需求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26187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Noto Sans CJK SC"/>
              </a:rPr>
              <a:t>从任务书要求出发说明业务场景与约束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6FB2"/>
                </a:solidFill>
                <a:latin typeface="Noto Sans CJK S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148840"/>
            <a:ext cx="502920" cy="1645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9933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24F"/>
                </a:solidFill>
                <a:latin typeface="Noto Sans CJK SC"/>
              </a:rPr>
              <a:t>系统设计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391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Noto Sans CJK SC"/>
              </a:rPr>
              <a:t>总体架构、业务流程、数据结构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6FB2"/>
                </a:solidFill>
                <a:latin typeface="Noto Sans CJK S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2926080"/>
            <a:ext cx="502920" cy="1645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7706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24F"/>
                </a:solidFill>
                <a:latin typeface="Noto Sans CJK SC"/>
              </a:rPr>
              <a:t>核心实现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1635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Noto Sans CJK SC"/>
              </a:rPr>
              <a:t>工具管理、借还登记、统计分析、文件存储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6FB2"/>
                </a:solidFill>
                <a:latin typeface="Noto Sans CJK SC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703320"/>
            <a:ext cx="502920" cy="1645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5478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24F"/>
                </a:solidFill>
                <a:latin typeface="Noto Sans CJK SC"/>
              </a:rPr>
              <a:t>测试验证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935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Noto Sans CJK SC"/>
              </a:rPr>
              <a:t>测试用例、运行结果、边界条件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6FB2"/>
                </a:solidFill>
                <a:latin typeface="Noto Sans CJK SC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480560"/>
            <a:ext cx="502920" cy="1645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32511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24F"/>
                </a:solidFill>
                <a:latin typeface="Noto Sans CJK SC"/>
              </a:rPr>
              <a:t>创新总结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7083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Noto Sans CJK SC"/>
              </a:rPr>
              <a:t>创新点、项目收获与后续改进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234440"/>
            <a:ext cx="2560320" cy="310896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1399032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评分关注点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234440"/>
            <a:ext cx="73152" cy="3108960"/>
          </a:xfrm>
          <a:prstGeom prst="rect">
            <a:avLst/>
          </a:prstGeom>
          <a:solidFill>
            <a:srgbClr val="C78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847088"/>
            <a:ext cx="20116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内容完整：覆盖需求、设计、开发与测试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格式规范：学术风格、层次清晰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陈述清楚：突出模块化与实现证据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创新充分：至少 3 个创新点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86400"/>
            <a:ext cx="10881360" cy="50292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5099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6324F"/>
                </a:solidFill>
                <a:latin typeface="Noto Sans CJK SC"/>
              </a:rPr>
              <a:t>本次改版目标：减少大段文字堆叠，改为“图示 + 表格 + 关键证据”的科研答辩表达。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01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项目背景与需求分析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926080" cy="4206240"/>
          </a:xfrm>
          <a:prstGeom prst="roundRect">
            <a:avLst/>
          </a:prstGeom>
          <a:solidFill>
            <a:srgbClr val="FFFB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99032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业务痛点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4206240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331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200">
                <a:solidFill>
                  <a:srgbClr val="111827"/>
                </a:solidFill>
                <a:latin typeface="Noto Sans CJK SC"/>
              </a:defRPr>
            </a:pPr>
            <a:r>
              <a:t>• 工具种类多、借用频繁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200">
                <a:solidFill>
                  <a:srgbClr val="111827"/>
                </a:solidFill>
                <a:latin typeface="Noto Sans CJK SC"/>
              </a:defRPr>
            </a:pPr>
            <a:r>
              <a:t>• 人工登记易漏记、错记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200">
                <a:solidFill>
                  <a:srgbClr val="111827"/>
                </a:solidFill>
                <a:latin typeface="Noto Sans CJK SC"/>
              </a:defRPr>
            </a:pPr>
            <a:r>
              <a:t>• 库存数量与借还状态不清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200">
                <a:solidFill>
                  <a:srgbClr val="111827"/>
                </a:solidFill>
                <a:latin typeface="Noto Sans CJK SC"/>
              </a:defRPr>
            </a:pPr>
            <a:r>
              <a:t>• 低库存难以及时发现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94A48"/>
                </a:solidFill>
                <a:latin typeface="Noto Sans CJK SC"/>
              </a:rPr>
              <a:t>问题抽象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Noto Sans CJK SC"/>
              </a:rPr>
              <a:t>纸质流程 → 数据表驱动</a:t>
            </a:r>
            <a:br/>
            <a:r>
              <a:rPr sz="1050" b="0">
                <a:solidFill>
                  <a:srgbClr val="6B7280"/>
                </a:solidFill>
                <a:latin typeface="Noto Sans CJK SC"/>
              </a:rPr>
              <a:t>人工判断 → 自动校验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234440"/>
            <a:ext cx="3520440" cy="420624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1399032"/>
            <a:ext cx="31181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系统目标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234440"/>
            <a:ext cx="73152" cy="420624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69080" y="1847088"/>
            <a:ext cx="210312" cy="210312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81051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324F"/>
                </a:solidFill>
                <a:latin typeface="Noto Sans CJK SC"/>
              </a:rPr>
              <a:t>数据管理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828800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B7280"/>
                </a:solidFill>
                <a:latin typeface="Noto Sans CJK SC"/>
              </a:rPr>
              <a:t>工具信息增删改查、借还记录管理</a:t>
            </a:r>
          </a:p>
        </p:txBody>
      </p:sp>
      <p:sp>
        <p:nvSpPr>
          <p:cNvPr id="19" name="Oval 18"/>
          <p:cNvSpPr/>
          <p:nvPr/>
        </p:nvSpPr>
        <p:spPr>
          <a:xfrm>
            <a:off x="4069080" y="2606040"/>
            <a:ext cx="210312" cy="210312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5694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324F"/>
                </a:solidFill>
                <a:latin typeface="Noto Sans CJK SC"/>
              </a:rPr>
              <a:t>流程控制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87752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B7280"/>
                </a:solidFill>
                <a:latin typeface="Noto Sans CJK SC"/>
              </a:rPr>
              <a:t>借用/归还时自动校验并联动库存</a:t>
            </a:r>
          </a:p>
        </p:txBody>
      </p:sp>
      <p:sp>
        <p:nvSpPr>
          <p:cNvPr id="22" name="Oval 21"/>
          <p:cNvSpPr/>
          <p:nvPr/>
        </p:nvSpPr>
        <p:spPr>
          <a:xfrm>
            <a:off x="4069080" y="3364992"/>
            <a:ext cx="210312" cy="210312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332841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324F"/>
                </a:solidFill>
                <a:latin typeface="Noto Sans CJK SC"/>
              </a:rPr>
              <a:t>统计决策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46704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B7280"/>
                </a:solidFill>
                <a:latin typeface="Noto Sans CJK SC"/>
              </a:rPr>
              <a:t>库存汇总、低库存预警、借用排行</a:t>
            </a:r>
          </a:p>
        </p:txBody>
      </p:sp>
      <p:sp>
        <p:nvSpPr>
          <p:cNvPr id="25" name="Oval 24"/>
          <p:cNvSpPr/>
          <p:nvPr/>
        </p:nvSpPr>
        <p:spPr>
          <a:xfrm>
            <a:off x="4069080" y="4123944"/>
            <a:ext cx="210312" cy="210312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0873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324F"/>
                </a:solidFill>
                <a:latin typeface="Noto Sans CJK SC"/>
              </a:rPr>
              <a:t>数据持久化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05656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B7280"/>
                </a:solidFill>
                <a:latin typeface="Noto Sans CJK SC"/>
              </a:rPr>
              <a:t>启动加载、退出保存，重启不丢失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234440"/>
            <a:ext cx="3977639" cy="4206240"/>
          </a:xfrm>
          <a:prstGeom prst="roundRect">
            <a:avLst/>
          </a:prstGeom>
          <a:solidFill>
            <a:srgbClr val="FAFFFC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1399032"/>
            <a:ext cx="357530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关键约束与输入校验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234440"/>
            <a:ext cx="73152" cy="420624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181051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编号唯一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18105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工具编号作为主键，避免重复记录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3865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库存非负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238658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借用数量不得超过当前库存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296265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状态控制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296265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损坏工具不可借用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353872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重复拦截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353872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已还记录不能重复归还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1148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保存安全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4114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退出前自动保存所有数据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669280"/>
            <a:ext cx="10972800" cy="438912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824728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6324F"/>
                </a:solidFill>
                <a:latin typeface="Noto Sans CJK SC"/>
              </a:rPr>
              <a:t>定位：面向工厂仓库工具借用场景的控制台管理系统，重点体现 C 语言核心知识的综合应用。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01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任务书功能覆盖矩阵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2468880" cy="41148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353312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任务书要求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34440"/>
            <a:ext cx="2468880" cy="41148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353312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本系统实现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34440"/>
            <a:ext cx="2468880" cy="41148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1353312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关键技术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234440"/>
            <a:ext cx="2560320" cy="41148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9952" y="1353312"/>
            <a:ext cx="2414015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证据呈现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1801368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工具信息管理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801368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显示 / 添加 / 删除 / 修改 / 多条件查询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645920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801368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结构体数组、strstr、主键校验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645920"/>
            <a:ext cx="25603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01368"/>
            <a:ext cx="23774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tool.c、storage.c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04288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2459736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工具借还管理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304288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459736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借用、归还、历史记录展示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304288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59" y="2459736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记录编号、库存联动、状态机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304288"/>
            <a:ext cx="256032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459736"/>
            <a:ext cx="23774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borrow.c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62656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311810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统计分析功能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962656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11810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整体统计、低库存预警、借用排行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962656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311810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循环统计、qsort 排序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962656"/>
            <a:ext cx="25603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118104"/>
            <a:ext cx="23774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statistics.c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621024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3776472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数据持久化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621024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3776472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tools.dat 与 borrow_records.dat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621024"/>
            <a:ext cx="246888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59" y="3776472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二进制文件读写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3621024"/>
            <a:ext cx="2560320" cy="658368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776472"/>
            <a:ext cx="23774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load / save 接口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79392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" y="4434840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系统基础功能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279392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4434840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登录验证、菜单导航、输入合法性校验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279392"/>
            <a:ext cx="24688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59" y="4434840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模块化调度、边界判断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4279392"/>
            <a:ext cx="25603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4434840"/>
            <a:ext cx="23774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11827"/>
                </a:solidFill>
                <a:latin typeface="Noto Sans CJK SC"/>
              </a:rPr>
              <a:t>menu.c、main.c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5440680"/>
            <a:ext cx="146304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586984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F6FB2"/>
                </a:solidFill>
                <a:latin typeface="Noto Sans CJK SC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606247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核心模块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5440680"/>
            <a:ext cx="146304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5586984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56A6D6"/>
                </a:solidFill>
                <a:latin typeface="Noto Sans CJK SC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606247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数据结构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63440" y="5440680"/>
            <a:ext cx="146304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79" y="5586984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E8F62"/>
                </a:solidFill>
                <a:latin typeface="Noto Sans CJK SC"/>
              </a:rPr>
              <a:t>4+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79" y="606247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创新/增强点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5440680"/>
            <a:ext cx="164592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55869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C78A19"/>
                </a:solidFill>
                <a:latin typeface="Noto Sans CJK SC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60624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主要功能覆盖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562356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6B7280"/>
                </a:solidFill>
                <a:latin typeface="Noto Sans CJK SC"/>
              </a:rPr>
              <a:t>答辩策略：先说明“任务要求”，再展示“实现路径”和“运行证据”，提升完整性与可信度。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02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系统总体架构设计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4754880" cy="868680"/>
          </a:xfrm>
          <a:prstGeom prst="roundRect">
            <a:avLst/>
          </a:prstGeom>
          <a:solidFill>
            <a:srgbClr val="F4F9FF"/>
          </a:solidFill>
          <a:ln w="127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9047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6324F"/>
                </a:solidFill>
                <a:latin typeface="Noto Sans CJK SC"/>
              </a:rPr>
              <a:t>表现层 / Console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37943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登录验证、主菜单导航、操作提示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194560"/>
            <a:ext cx="0" cy="338328"/>
          </a:xfrm>
          <a:prstGeom prst="line">
            <a:avLst/>
          </a:prstGeom>
          <a:ln w="1651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651760"/>
            <a:ext cx="4754880" cy="868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1635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6324F"/>
                </a:solidFill>
                <a:latin typeface="Noto Sans CJK SC"/>
              </a:rPr>
              <a:t>业务层 / Service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6382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工具管理、借还管理、统计分析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520439"/>
            <a:ext cx="0" cy="338329"/>
          </a:xfrm>
          <a:prstGeom prst="line">
            <a:avLst/>
          </a:prstGeom>
          <a:ln w="1651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977639"/>
            <a:ext cx="4754880" cy="868680"/>
          </a:xfrm>
          <a:prstGeom prst="roundRect">
            <a:avLst/>
          </a:prstGeom>
          <a:solidFill>
            <a:srgbClr val="F7FFF9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42231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6324F"/>
                </a:solidFill>
                <a:latin typeface="Noto Sans CJK SC"/>
              </a:rPr>
              <a:t>数据层 /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8970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Tool[]、BorrowRecord[]、tools.dat、borrow_records.dat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097280"/>
            <a:ext cx="4572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24358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B2"/>
                </a:solidFill>
                <a:latin typeface="Noto Sans CJK SC"/>
              </a:rPr>
              <a:t>main.c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2435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程序入口，调用 run_system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38528"/>
            <a:ext cx="4572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8483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B2"/>
                </a:solidFill>
                <a:latin typeface="Noto Sans CJK SC"/>
              </a:rPr>
              <a:t>menu.c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8483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登录、加载数据、菜单循环、退出保存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779776"/>
            <a:ext cx="4572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92608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B2"/>
                </a:solidFill>
                <a:latin typeface="Noto Sans CJK SC"/>
              </a:rPr>
              <a:t>tool.c / storage.c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260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工具基础信息管理与文件读写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621024"/>
            <a:ext cx="4572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6732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B2"/>
                </a:solidFill>
                <a:latin typeface="Noto Sans CJK SC"/>
              </a:rPr>
              <a:t>borrow.c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673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借用、归还与借还记录读写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62272"/>
            <a:ext cx="45720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60857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B2"/>
                </a:solidFill>
                <a:latin typeface="Noto Sans CJK SC"/>
              </a:rPr>
              <a:t>statistics.c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085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库存统计、低库存预警、借用排行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715000"/>
            <a:ext cx="10149840" cy="4572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870448"/>
            <a:ext cx="9692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>
                <a:solidFill>
                  <a:srgbClr val="16324F"/>
                </a:solidFill>
                <a:latin typeface="Noto Sans CJK SC"/>
              </a:rPr>
              <a:t>设计原则：以 main/menu 统一调度，以业务模块保持功能独立，以共享数据结构保证库存与借还状态一致。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02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业务流程与数据变化规则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启动程序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2" y="2112264"/>
            <a:ext cx="411480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7712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登录验证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38144" y="2112264"/>
            <a:ext cx="411480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49624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2776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加载数据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0056" y="2112264"/>
            <a:ext cx="411480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31536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选择功能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1968" y="2112264"/>
            <a:ext cx="411480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13448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借用 / 归还 / 查询 / 统计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2112264"/>
            <a:ext cx="411481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95360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退出前保存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65792" y="2112264"/>
            <a:ext cx="411480" cy="0"/>
          </a:xfrm>
          <a:prstGeom prst="line">
            <a:avLst/>
          </a:prstGeom>
          <a:ln w="1270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77272" y="1828800"/>
            <a:ext cx="1170432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0424" y="202996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>
                <a:solidFill>
                  <a:srgbClr val="16324F"/>
                </a:solidFill>
                <a:latin typeface="Noto Sans CJK SC"/>
              </a:rPr>
              <a:t>系统结束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246120"/>
            <a:ext cx="3246120" cy="192024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3410712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借用成功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246120"/>
            <a:ext cx="73152" cy="192024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8862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Noto Sans CJK SC"/>
              </a:rPr>
              <a:t>stock -= quantity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borrowed_count += quantity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生成 BorrowRecord（已借）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246120"/>
            <a:ext cx="3246120" cy="1920240"/>
          </a:xfrm>
          <a:prstGeom prst="roundRect">
            <a:avLst/>
          </a:prstGeom>
          <a:solidFill>
            <a:srgbClr val="F8FFF9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3410712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归还成功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246120"/>
            <a:ext cx="73152" cy="192024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8862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Noto Sans CJK SC"/>
              </a:rPr>
              <a:t>stock += quantity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borrowed_count -= quantity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记录状态改为“已还”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246120"/>
            <a:ext cx="3246120" cy="192024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3410712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退出保存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246120"/>
            <a:ext cx="73152" cy="1920240"/>
          </a:xfrm>
          <a:prstGeom prst="rect">
            <a:avLst/>
          </a:prstGeom>
          <a:solidFill>
            <a:srgbClr val="C78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88620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Noto Sans CJK SC"/>
              </a:rPr>
              <a:t>tools.dat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borrow_records.dat</a:t>
            </a:r>
            <a:br/>
            <a:r>
              <a:rPr sz="1300" b="0">
                <a:solidFill>
                  <a:srgbClr val="111827"/>
                </a:solidFill>
                <a:latin typeface="Noto Sans CJK SC"/>
              </a:rPr>
              <a:t>重启后自动加载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62356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Noto Sans CJK SC"/>
              </a:rPr>
              <a:t>核心思想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614416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6B7280"/>
                </a:solidFill>
                <a:latin typeface="Noto Sans CJK SC"/>
              </a:rPr>
              <a:t>借还操作不是单独写记录，而是同时维护工具表库存字段与借还记录表状态字段。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03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核心数据结构与表间关联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20640" cy="393192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71830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Tool 工具信息结构体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393192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15087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Aptos"/>
              </a:rPr>
              <a:t>id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name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type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stock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status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borrowed_count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location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2606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id 作为主键，保证工具记录唯一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stock 表示当前可借库存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borrowed_count 表示已借出数量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status 用于控制正常/损坏状态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34440"/>
            <a:ext cx="5120640" cy="3931920"/>
          </a:xfrm>
          <a:prstGeom prst="roundRect">
            <a:avLst/>
          </a:prstGeom>
          <a:solidFill>
            <a:srgbClr val="F8FFF9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399032"/>
            <a:ext cx="471830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BorrowRecord 借还记录结构体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73152" cy="393192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19"/>
            <a:ext cx="164592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11827"/>
                </a:solidFill>
                <a:latin typeface="Aptos"/>
              </a:rPr>
              <a:t>record_id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tool_id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borrower_name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borrow_date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due_date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quantity</a:t>
            </a:r>
            <a:br/>
            <a:r>
              <a:rPr sz="1300" b="0">
                <a:solidFill>
                  <a:srgbClr val="111827"/>
                </a:solidFill>
                <a:latin typeface="Aptos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74519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record_id 自增唯一，定位归还记录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tool_id 关联 Tool.id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quantity 决定库存变化幅度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40">
                <a:solidFill>
                  <a:srgbClr val="111827"/>
                </a:solidFill>
                <a:latin typeface="Noto Sans CJK SC"/>
              </a:defRPr>
            </a:pPr>
            <a:r>
              <a:t>• status 区分“已借 / 已还”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2880360"/>
            <a:ext cx="521208" cy="0"/>
          </a:xfrm>
          <a:prstGeom prst="line">
            <a:avLst/>
          </a:prstGeom>
          <a:ln w="2286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69864" y="251460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Noto Sans CJK SC"/>
              </a:rPr>
              <a:t>1 :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77840"/>
            <a:ext cx="10287000" cy="50292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742432"/>
            <a:ext cx="9829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>
                <a:solidFill>
                  <a:srgbClr val="16324F"/>
                </a:solidFill>
                <a:latin typeface="Noto Sans CJK SC"/>
              </a:rPr>
              <a:t>设计取舍：借还记录中只存 tool_id，不重复保存完整工具信息，减少冗余并保持库存更新集中。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04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工具信息管理模块实现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0116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07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添加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350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111827"/>
                </a:solidFill>
                <a:latin typeface="Noto Sans CJK SC"/>
              </a:rPr>
              <a:t>编号唯一</a:t>
            </a:r>
            <a:br/>
            <a:r>
              <a:rPr sz="819" b="0">
                <a:solidFill>
                  <a:srgbClr val="111827"/>
                </a:solidFill>
                <a:latin typeface="Noto Sans CJK SC"/>
              </a:rPr>
              <a:t>库存/单价合法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1640" y="1929384"/>
            <a:ext cx="0" cy="164592"/>
          </a:xfrm>
          <a:prstGeom prst="line">
            <a:avLst/>
          </a:prstGeom>
          <a:ln w="1143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2103120"/>
            <a:ext cx="20116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删除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03703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111827"/>
                </a:solidFill>
                <a:latin typeface="Noto Sans CJK SC"/>
              </a:rPr>
              <a:t>已借出禁止删除</a:t>
            </a:r>
            <a:br/>
            <a:r>
              <a:rPr sz="819" b="0">
                <a:solidFill>
                  <a:srgbClr val="111827"/>
                </a:solidFill>
                <a:latin typeface="Noto Sans CJK SC"/>
              </a:rPr>
              <a:t>二次确认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1640" y="2798063"/>
            <a:ext cx="0" cy="164593"/>
          </a:xfrm>
          <a:prstGeom prst="line">
            <a:avLst/>
          </a:prstGeom>
          <a:ln w="1143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2971800"/>
            <a:ext cx="20116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181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修改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7238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111827"/>
                </a:solidFill>
                <a:latin typeface="Noto Sans CJK SC"/>
              </a:rPr>
              <a:t>编号不可修改</a:t>
            </a:r>
            <a:br/>
            <a:r>
              <a:rPr sz="819" b="0">
                <a:solidFill>
                  <a:srgbClr val="111827"/>
                </a:solidFill>
                <a:latin typeface="Noto Sans CJK SC"/>
              </a:rPr>
              <a:t>回车保留原值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3666744"/>
            <a:ext cx="0" cy="164591"/>
          </a:xfrm>
          <a:prstGeom prst="line">
            <a:avLst/>
          </a:prstGeom>
          <a:ln w="1143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3840480"/>
            <a:ext cx="20116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86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4106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111827"/>
                </a:solidFill>
                <a:latin typeface="Noto Sans CJK SC"/>
              </a:rPr>
              <a:t>编号精准</a:t>
            </a:r>
            <a:br/>
            <a:r>
              <a:rPr sz="819" b="0">
                <a:solidFill>
                  <a:srgbClr val="111827"/>
                </a:solidFill>
                <a:latin typeface="Noto Sans CJK SC"/>
              </a:rPr>
              <a:t>名称/类型模糊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91640" y="4535424"/>
            <a:ext cx="0" cy="164592"/>
          </a:xfrm>
          <a:prstGeom prst="line">
            <a:avLst/>
          </a:prstGeom>
          <a:ln w="1143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4709160"/>
            <a:ext cx="20116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6FB2"/>
                </a:solidFill>
                <a:latin typeface="Noto Sans CJK SC"/>
              </a:rPr>
              <a:t>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974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0">
                <a:solidFill>
                  <a:srgbClr val="111827"/>
                </a:solidFill>
                <a:latin typeface="Noto Sans CJK SC"/>
              </a:rPr>
              <a:t>tools.dat</a:t>
            </a:r>
            <a:br/>
            <a:r>
              <a:rPr sz="819" b="0">
                <a:solidFill>
                  <a:srgbClr val="111827"/>
                </a:solidFill>
                <a:latin typeface="Noto Sans CJK SC"/>
              </a:rPr>
              <a:t>重启不丢失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1234440"/>
            <a:ext cx="3657600" cy="182880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1399032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关键函数接口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1234440"/>
            <a:ext cx="73152" cy="18288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184708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11827"/>
                </a:solidFill>
                <a:latin typeface="Aptos"/>
              </a:rPr>
              <a:t>find_tool_index_by_id()</a:t>
            </a:r>
            <a:br/>
            <a:r>
              <a:rPr sz="1100" b="0">
                <a:solidFill>
                  <a:srgbClr val="111827"/>
                </a:solidFill>
                <a:latin typeface="Aptos"/>
              </a:rPr>
              <a:t>show_all_tools()</a:t>
            </a:r>
            <a:br/>
            <a:r>
              <a:rPr sz="1100" b="0">
                <a:solidFill>
                  <a:srgbClr val="111827"/>
                </a:solidFill>
                <a:latin typeface="Aptos"/>
              </a:rPr>
              <a:t>add_tool() / delete_tool() / update_tool()</a:t>
            </a:r>
            <a:br/>
            <a:r>
              <a:rPr sz="1100" b="0">
                <a:solidFill>
                  <a:srgbClr val="111827"/>
                </a:solidFill>
                <a:latin typeface="Aptos"/>
              </a:rPr>
              <a:t>search_tools()</a:t>
            </a:r>
            <a:br/>
            <a:r>
              <a:rPr sz="1100" b="0">
                <a:solidFill>
                  <a:srgbClr val="111827"/>
                </a:solidFill>
                <a:latin typeface="Aptos"/>
              </a:rPr>
              <a:t>load_tools() / save_tools()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1234440"/>
            <a:ext cx="4160520" cy="1828800"/>
          </a:xfrm>
          <a:prstGeom prst="roundRect">
            <a:avLst/>
          </a:prstGeom>
          <a:solidFill>
            <a:srgbClr val="FFFB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1399032"/>
            <a:ext cx="37581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输入与边界保护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1234440"/>
            <a:ext cx="73152" cy="1828800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1847088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数组容量检查，防止越界写入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重复编号拦截，保证主键唯一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已借出工具不可删除，避免数据断链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库存、单价不能为负数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3657600"/>
            <a:ext cx="8183879" cy="1600200"/>
          </a:xfrm>
          <a:prstGeom prst="roundRect">
            <a:avLst/>
          </a:prstGeom>
          <a:solidFill>
            <a:srgbClr val="FAFFFC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822191"/>
            <a:ext cx="7781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查询策略示例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3657600"/>
            <a:ext cx="73152" cy="160020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315968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16324F"/>
                </a:solidFill>
                <a:latin typeface="Aptos"/>
              </a:rPr>
              <a:t>编号查询：id == input_id      名称/类型查询：strstr(name, keyword) / strstr(type, keyword)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736592"/>
            <a:ext cx="6720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B7280"/>
                </a:solidFill>
                <a:latin typeface="Noto Sans CJK SC"/>
              </a:rPr>
              <a:t>优势：既支持管理员按编号精确定位，也支持普通用户凭关键词快速检索。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04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借还管理与统计分析模块实现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57800" cy="416052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借还管理：校验驱动的状态转换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73152" cy="416052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1828800"/>
            <a:ext cx="228600" cy="2286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81051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24F"/>
                </a:solidFill>
                <a:latin typeface="Noto Sans CJK SC"/>
              </a:rPr>
              <a:t>发起借用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828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输入工具编号、借用人、数量、日期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5000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331720"/>
            <a:ext cx="228600" cy="2286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31343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24F"/>
                </a:solidFill>
                <a:latin typeface="Noto Sans CJK SC"/>
              </a:rPr>
              <a:t>合法性校验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3317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工具存在 / 状态正常 / 库存充足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5292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2834640"/>
            <a:ext cx="228600" cy="2286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281635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24F"/>
                </a:solidFill>
                <a:latin typeface="Noto Sans CJK SC"/>
              </a:rPr>
              <a:t>生成记录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346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自增 record_id，状态为已借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5584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337560"/>
            <a:ext cx="228600" cy="2286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33192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24F"/>
                </a:solidFill>
                <a:latin typeface="Noto Sans CJK SC"/>
              </a:rPr>
              <a:t>办理归还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3375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定位记录，防止重复归还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5876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3840480"/>
            <a:ext cx="228600" cy="2286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38221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24F"/>
                </a:solidFill>
                <a:latin typeface="Noto Sans CJK SC"/>
              </a:rPr>
              <a:t>库存恢复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8404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11827"/>
                </a:solidFill>
                <a:latin typeface="Noto Sans CJK SC"/>
              </a:rPr>
              <a:t>同步恢复 stock 与 borrowed_count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234440"/>
            <a:ext cx="4983480" cy="4160520"/>
          </a:xfrm>
          <a:prstGeom prst="roundRect">
            <a:avLst/>
          </a:prstGeom>
          <a:solidFill>
            <a:srgbClr val="F8FFF9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1399032"/>
            <a:ext cx="4581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统计分析：从记录到决策信息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73152" cy="416052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1874519"/>
            <a:ext cx="42519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029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库存整体统计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199339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11827"/>
                </a:solidFill>
                <a:latin typeface="Noto Sans CJK SC"/>
              </a:rPr>
              <a:t>工具种类数、总数量、在库数量、已借数量、总价值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2834639"/>
            <a:ext cx="42519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299008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低库存预警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95351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11827"/>
                </a:solidFill>
                <a:latin typeface="Noto Sans CJK SC"/>
              </a:rPr>
              <a:t>用户输入安全库存阈值，自动筛选不足工具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794760"/>
            <a:ext cx="42519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5020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8F62"/>
                </a:solidFill>
                <a:latin typeface="Noto Sans CJK SC"/>
              </a:rPr>
              <a:t>借用次数排行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913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11827"/>
                </a:solidFill>
                <a:latin typeface="Noto Sans CJK SC"/>
              </a:rPr>
              <a:t>遍历借还记录累计频次，qsort 降序排序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623560"/>
            <a:ext cx="10332720" cy="4572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77900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>
                <a:solidFill>
                  <a:srgbClr val="16324F"/>
                </a:solidFill>
                <a:latin typeface="Noto Sans CJK SC"/>
              </a:rPr>
              <a:t>实现亮点：所有业务操作都围绕“数据一致性”设计，避免库存负数、重复归还和历史记录丢失。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04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数据持久化与代码规范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20640" cy="411480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71830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文件读写机制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41148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25880" y="196596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18541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6324F"/>
                </a:solidFill>
                <a:latin typeface="Aptos"/>
              </a:rPr>
              <a:t>Tool[]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035808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2552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6324F"/>
                </a:solidFill>
                <a:latin typeface="Aptos"/>
              </a:rPr>
              <a:t>Record[]</a:t>
            </a:r>
          </a:p>
        </p:txBody>
      </p:sp>
      <p:sp>
        <p:nvSpPr>
          <p:cNvPr id="14" name="Document 13"/>
          <p:cNvSpPr/>
          <p:nvPr/>
        </p:nvSpPr>
        <p:spPr>
          <a:xfrm>
            <a:off x="3749039" y="1874519"/>
            <a:ext cx="1280160" cy="731520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1488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F6FB2"/>
                </a:solidFill>
                <a:latin typeface="Aptos"/>
              </a:rPr>
              <a:t>tools.dat</a:t>
            </a:r>
          </a:p>
        </p:txBody>
      </p:sp>
      <p:sp>
        <p:nvSpPr>
          <p:cNvPr id="16" name="Document 15"/>
          <p:cNvSpPr/>
          <p:nvPr/>
        </p:nvSpPr>
        <p:spPr>
          <a:xfrm>
            <a:off x="3749039" y="2944368"/>
            <a:ext cx="1280160" cy="731520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7328" y="32004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3E8F62"/>
                </a:solidFill>
                <a:latin typeface="Aptos"/>
              </a:rPr>
              <a:t>borrow_records.dat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2258568"/>
            <a:ext cx="1097279" cy="0"/>
          </a:xfrm>
          <a:prstGeom prst="line">
            <a:avLst/>
          </a:prstGeom>
          <a:ln w="1397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651760" y="2432304"/>
            <a:ext cx="1097279" cy="0"/>
          </a:xfrm>
          <a:prstGeom prst="line">
            <a:avLst/>
          </a:prstGeom>
          <a:ln w="1397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3328416"/>
            <a:ext cx="1097279" cy="0"/>
          </a:xfrm>
          <a:prstGeom prst="line">
            <a:avLst/>
          </a:prstGeom>
          <a:ln w="13970">
            <a:solidFill>
              <a:srgbClr val="3E8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651760" y="3502152"/>
            <a:ext cx="1097279" cy="0"/>
          </a:xfrm>
          <a:prstGeom prst="line">
            <a:avLst/>
          </a:prstGeom>
          <a:ln w="13970">
            <a:solidFill>
              <a:srgbClr val="3E8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43000" y="434340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Noto Sans CJK SC"/>
              </a:rPr>
              <a:t>保存时先写入记录数量，再写入结构体数组；加载时按相同顺序读取并检查最大容量。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34440"/>
            <a:ext cx="5074920" cy="411480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139903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代码规范性体现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234440"/>
            <a:ext cx="73152" cy="4114800"/>
          </a:xfrm>
          <a:prstGeom prst="rect">
            <a:avLst/>
          </a:prstGeom>
          <a:solidFill>
            <a:srgbClr val="C78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874519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函数与变量命名见名知意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多文件组织：src / include / data / build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关键代码添加注释，提高可维护性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函数模块粒度清晰，避免主函数过重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50">
                <a:solidFill>
                  <a:srgbClr val="111827"/>
                </a:solidFill>
                <a:latin typeface="Noto Sans CJK SC"/>
              </a:defRPr>
            </a:pPr>
            <a:r>
              <a:t>• 统一接口传递数组与计数器，便于联调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650992"/>
            <a:ext cx="10195560" cy="429768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97383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60" b="1">
                <a:solidFill>
                  <a:srgbClr val="16324F"/>
                </a:solidFill>
                <a:latin typeface="Noto Sans CJK SC"/>
              </a:rPr>
              <a:t>答辩可强调：二进制文件读写是本项目从“运行一次的程序”到“可持续使用的信息系统”的关键。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05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测试结果与运行效果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F6FB2"/>
                </a:solidFill>
                <a:latin typeface="Noto Sans CJK SC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工具记录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56A6D6"/>
                </a:solidFill>
                <a:latin typeface="Noto Sans CJK SC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借还记录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E8F62"/>
                </a:solidFill>
                <a:latin typeface="Noto Sans CJK SC"/>
              </a:rPr>
              <a:t>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总数量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E8F62"/>
                </a:solidFill>
                <a:latin typeface="Noto Sans CJK SC"/>
              </a:rP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在库数量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C78A19"/>
                </a:solidFill>
                <a:latin typeface="Noto Sans CJK SC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已借数量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143000"/>
            <a:ext cx="1371600" cy="777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289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B94A48"/>
                </a:solidFill>
                <a:latin typeface="Noto Sans CJK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76479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B7280"/>
                </a:solidFill>
                <a:latin typeface="Noto Sans CJK SC"/>
              </a:rPr>
              <a:t>低库存工具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423160"/>
            <a:ext cx="196596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2542032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FFFFFF"/>
                </a:solidFill>
                <a:latin typeface="Noto Sans CJK SC"/>
              </a:rPr>
              <a:t>测试项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423160"/>
            <a:ext cx="608076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2072" y="2542032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FFFFFF"/>
                </a:solidFill>
                <a:latin typeface="Noto Sans CJK SC"/>
              </a:rPr>
              <a:t>测试内容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423160"/>
            <a:ext cx="14173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2542032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FFFFFF"/>
                </a:solidFill>
                <a:latin typeface="Noto Sans CJK SC"/>
              </a:rPr>
              <a:t>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807208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2926079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登录验证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2807208"/>
            <a:ext cx="6080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2072" y="2926079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账号 admin / 密码 admin123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807208"/>
            <a:ext cx="14173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2926079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200400"/>
            <a:ext cx="19659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319272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数据加载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200400"/>
            <a:ext cx="60807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2" y="3319272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加载工具与借还记录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200400"/>
            <a:ext cx="141732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2" y="3319272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593592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3712464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库存统计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3593592"/>
            <a:ext cx="6080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072" y="3712464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统计总数量、在库、已借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3593592"/>
            <a:ext cx="14173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42832" y="3712464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3986784"/>
            <a:ext cx="19659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4105656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低库存预警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3986784"/>
            <a:ext cx="60807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2072" y="4105656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阈值 6 筛出低库存工具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3986784"/>
            <a:ext cx="141732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2832" y="4105656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379976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4498848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借用排行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4379976"/>
            <a:ext cx="6080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62072" y="4498848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按历史借用次数降序展示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4379976"/>
            <a:ext cx="14173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42832" y="4498848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4773168"/>
            <a:ext cx="19659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" y="4892040"/>
            <a:ext cx="18196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异常拦截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4773168"/>
            <a:ext cx="608076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62072" y="4892040"/>
            <a:ext cx="593445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0">
                <a:solidFill>
                  <a:srgbClr val="111827"/>
                </a:solidFill>
                <a:latin typeface="Noto Sans CJK SC"/>
              </a:rPr>
              <a:t>库存不足、损坏工具、重复归还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9680" y="4773168"/>
            <a:ext cx="1417320" cy="393192"/>
          </a:xfrm>
          <a:prstGeom prst="rect">
            <a:avLst/>
          </a:prstGeom>
          <a:solidFill>
            <a:srgbClr val="F7FAFD"/>
          </a:solidFill>
          <a:ln w="508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42832" y="4892040"/>
            <a:ext cx="1271016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3E8F62"/>
                </a:solidFill>
                <a:latin typeface="Noto Sans CJK SC"/>
              </a:rPr>
              <a:t>通过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44000" y="2423160"/>
            <a:ext cx="2057400" cy="2743200"/>
          </a:xfrm>
          <a:prstGeom prst="roundRect">
            <a:avLst/>
          </a:prstGeom>
          <a:solidFill>
            <a:srgbClr val="FAFFFC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45168" y="2587752"/>
            <a:ext cx="165506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验证结论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2423160"/>
            <a:ext cx="73152" cy="274320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72600" y="3063240"/>
            <a:ext cx="1554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核心流程可运行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数据文件可保存与加载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库存联动规则正确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000">
                <a:solidFill>
                  <a:srgbClr val="111827"/>
                </a:solidFill>
                <a:latin typeface="Noto Sans CJK SC"/>
              </a:defRPr>
            </a:pPr>
            <a:r>
              <a:t>• 边界条件能够拦截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6FB2"/>
                </a:solidFill>
                <a:latin typeface="Noto Sans CJK SC"/>
              </a:rPr>
              <a:t>06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24F"/>
                </a:solidFill>
                <a:latin typeface="Noto Sans CJK SC"/>
              </a:rPr>
              <a:t>创新点、收获与后续优化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6FB2"/>
                </a:solidFill>
                <a:latin typeface="Noto Sans CJK SC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521207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低库存预警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11827"/>
                </a:solidFill>
                <a:latin typeface="Noto Sans CJK SC"/>
              </a:rPr>
              <a:t>输入安全库存阈值后自动筛选低库存工具，辅助补货决策。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9903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借用次数排行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78308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11827"/>
                </a:solidFill>
                <a:latin typeface="Noto Sans CJK SC"/>
              </a:rPr>
              <a:t>基于历史借还记录统计高频工具，为采购和维护提供参考。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6032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72491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模糊查询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73152" cy="96012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11827"/>
                </a:solidFill>
                <a:latin typeface="Noto Sans CJK SC"/>
              </a:rPr>
              <a:t>名称和类型使用关键词检索，提高工具定位效率。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60320"/>
            <a:ext cx="5074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72491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数据持久化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560320"/>
            <a:ext cx="73152" cy="960120"/>
          </a:xfrm>
          <a:prstGeom prst="rect">
            <a:avLst/>
          </a:prstGeom>
          <a:solidFill>
            <a:srgbClr val="C78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10896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111827"/>
                </a:solidFill>
                <a:latin typeface="Noto Sans CJK SC"/>
              </a:rPr>
              <a:t>启动自动加载、退出自动保存，保证重启后数据不丢失。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51960"/>
            <a:ext cx="5074920" cy="128016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416552"/>
            <a:ext cx="46725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项目收获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251960"/>
            <a:ext cx="73152" cy="128016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4389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理解 C 语言从单文件练习到多文件项目的组织方式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掌握结构体、数组、指针参数、文件读写在业务系统中的应用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通过接口划分与联调完成两人协作开发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251960"/>
            <a:ext cx="4983480" cy="1280160"/>
          </a:xfrm>
          <a:prstGeom prst="roundRect">
            <a:avLst/>
          </a:prstGeom>
          <a:solidFill>
            <a:srgbClr val="F8FFF9"/>
          </a:solidFill>
          <a:ln w="1016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4416552"/>
            <a:ext cx="4581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24F"/>
                </a:solidFill>
                <a:latin typeface="Noto Sans CJK SC"/>
              </a:rPr>
              <a:t>后续优化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251960"/>
            <a:ext cx="73152" cy="1280160"/>
          </a:xfrm>
          <a:prstGeom prst="rect">
            <a:avLst/>
          </a:prstGeom>
          <a:solidFill>
            <a:srgbClr val="3E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81888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增加 CSV 导出与报表打印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扩展用户权限与日志审计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加入图形化界面或 Web 前端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950">
                <a:solidFill>
                  <a:srgbClr val="111827"/>
                </a:solidFill>
                <a:latin typeface="Noto Sans CJK SC"/>
              </a:defRPr>
            </a:pPr>
            <a:r>
              <a:t>• 完善更多异常测试用例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893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6324F"/>
                </a:solidFill>
                <a:latin typeface="Noto Sans CJK SC"/>
              </a:rPr>
              <a:t>谢谢聆听，欢迎老师批评指正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程序设计课程实践 · 工厂工具管理信息系统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201400" cy="4572"/>
          </a:xfrm>
          <a:prstGeom prst="rect">
            <a:avLst/>
          </a:prstGeom>
          <a:solidFill>
            <a:srgbClr val="DD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84280" y="64739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B7280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工厂工具管理信息系统-学术科研风格答辩PPT</dc:title>
  <dc:subject>程序设计课程实践综合项目答辩</dc:subject>
  <dc:creator>卢世豪、丁伟哲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